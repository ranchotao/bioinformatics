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78" r:id="rId4"/>
    <p:sldId id="279" r:id="rId5"/>
    <p:sldId id="280" r:id="rId6"/>
    <p:sldId id="284" r:id="rId7"/>
    <p:sldId id="285" r:id="rId8"/>
    <p:sldId id="286" r:id="rId9"/>
    <p:sldId id="287" r:id="rId10"/>
    <p:sldId id="281" r:id="rId11"/>
    <p:sldId id="275" r:id="rId12"/>
    <p:sldId id="276" r:id="rId13"/>
    <p:sldId id="268" r:id="rId14"/>
    <p:sldId id="270" r:id="rId15"/>
    <p:sldId id="271" r:id="rId16"/>
    <p:sldId id="272" r:id="rId17"/>
    <p:sldId id="273" r:id="rId18"/>
    <p:sldId id="27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48" d="100"/>
          <a:sy n="48" d="100"/>
        </p:scale>
        <p:origin x="32" y="1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07586-F407-D5C4-38AA-7B43242AB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1C0BE3-7087-F00C-3046-7420B99D5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4A4B8-2146-5CD2-2B6D-B516E7E1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98B95-79AD-1230-A0EB-65ADF8B0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85D6B-8A5F-C662-C081-975BC645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0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B5EA0-B1B5-EEEE-280C-6953B0BF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9DCA53-6DEF-A567-3A47-DB41DEBB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B9415-FB80-BF8F-78D4-61A1B57E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2D77C4-A331-108F-BDD4-316EC6D8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F08D21-1C39-2240-ADE9-1BC8C115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30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B62D9-1A22-31C8-C129-BD94496B4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34A1B-D9DA-FBF5-C1F2-36054E0CA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CF01D-939E-AFCE-B311-ED8DC138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9F46D-B6A1-0C13-4BD1-6A88E69F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365AA-7E9F-D80E-198B-900E72B8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179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E83CB-415A-C5AA-F55B-6BFDB68A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BFA5A-8C22-3692-1DC7-7D8290910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3557BB-A220-7382-BDB9-B5E9E1F86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F91E14-D1B5-7E26-0185-0AD333C1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F98E8B-0AD7-9EFB-627F-47354C8D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42F622-FBB9-4A4F-559D-6D75BE50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91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B80CE-5EE6-92F4-30FC-CBBD98CF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0BA01-AD2D-06D5-511F-4E3A73B3F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E1DB42-5457-1C7A-C6ED-AC7BA1632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5E6263-133A-79C2-B2F3-A8478E136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606B54-224D-4F34-F4FF-E844FDE3F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C0A971-A68A-4C05-41DE-E642D097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EF4F49-F9A8-BF45-B0A9-98AA27C5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32E30E-2766-3EBB-2FDA-89FFE261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90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D8EDE-08D3-A019-767E-4E82CD9A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E46BAA-1FBA-624F-758A-7FFE2A50E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2DFB1F-D83C-BAD0-60CC-328FCD1F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3AE826-3E0E-F5E4-2888-86050408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5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5CF795-EB07-E24D-741D-54B2E928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550870-E7E8-7CEA-80D0-304DA31B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9156D-2B56-75C1-F327-5856B603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9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82B29-665E-3974-95F7-53D794F3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7B08C7-FA92-49CD-97FF-D37BF37C1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47BE3E-22C5-AEA9-54E3-663929A7B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07E41C-9216-DECF-3976-5F8ADA8F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BC6D0-5B28-58C8-D1DC-4118DDF1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B251AC-917B-0A4C-E611-6A9034D4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92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CAF27-1F81-CDFA-2D21-7B415D37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1668C0-5118-3E57-7471-6C5E09FD2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6864D9-7FDE-EEE6-4C2E-86F30ECCC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4B6766-96FB-9A05-50AF-6E459A87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9BB4A7-EA81-C665-3CB9-D57B75500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74020F-1EE2-BDD7-FED1-27E44037E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37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1853F-E1DE-3E00-2ABA-2FFA9CCE7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BCB193-32F0-C130-E967-F7F4D4E7B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B477D-B0B4-48AD-830A-15D9FB7E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27A30-62AF-17F1-C48B-7757C8AA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FD8ACC-D839-5FA8-68C4-6405809F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76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E49121-D937-059E-2D52-25F1842AC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B56F87-85A0-2C40-CF9D-B3053E42D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AD160-B4C8-01DE-A65D-F1367C0A7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C52CB-103B-3F49-095E-C1FDC75B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9A738-FBA5-0C32-0E1D-45BBE84F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27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5CE44CF-119A-E9F2-F7D7-52F07803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F93211-F0A9-5F51-F13B-0AE04BBE2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7CAC0E-AB34-A6F9-C06B-66095C534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A021E-6628-4620-A09C-DF24AC9FCD2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4AB83-6B4F-914A-71E9-695DECB78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C54A49-0D94-687B-76B5-6433DA854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70170-81DF-4CFC-A972-042F2C39C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61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25-64186-4" TargetMode="External"/><Relationship Id="rId2" Type="http://schemas.openxmlformats.org/officeDocument/2006/relationships/hyperlink" Target="https://doi.org/10.1016/j.cels.2022.09.004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038/s41587-021-01034-y" TargetMode="External"/><Relationship Id="rId4" Type="http://schemas.openxmlformats.org/officeDocument/2006/relationships/hyperlink" Target="https://doi.org/10.1186/s13059-020-01977-6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cels.2022.09.004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467-025-64186-4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86/s13059-020-01977-6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87-021-01034-y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D2EE9-FDF7-16DB-2EBC-A95AAB84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4B5FE9-22BE-2D6E-2130-1052DAE927DA}"/>
              </a:ext>
            </a:extLst>
          </p:cNvPr>
          <p:cNvSpPr txBox="1"/>
          <p:nvPr/>
        </p:nvSpPr>
        <p:spPr>
          <a:xfrm>
            <a:off x="-423868" y="2151728"/>
            <a:ext cx="126158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solidFill>
                  <a:schemeClr val="bg1"/>
                </a:solidFill>
                <a:latin typeface="Lucida Calligraphy" panose="03010101010101010101" pitchFamily="66" charset="0"/>
                <a:ea typeface="华文隶书" panose="02010800040101010101" pitchFamily="2" charset="-122"/>
                <a:cs typeface="Microsoft Himalaya" panose="01010100010101010101" pitchFamily="2" charset="0"/>
              </a:rPr>
              <a:t>scHi-C </a:t>
            </a:r>
          </a:p>
          <a:p>
            <a:pPr algn="ctr"/>
            <a:r>
              <a:rPr lang="en-US" altLang="zh-CN" sz="8000" i="1" dirty="0">
                <a:solidFill>
                  <a:schemeClr val="bg1"/>
                </a:solidFill>
                <a:latin typeface="Lucida Calligraphy" panose="03010101010101010101" pitchFamily="66" charset="0"/>
                <a:ea typeface="华文隶书" panose="02010800040101010101" pitchFamily="2" charset="-122"/>
                <a:cs typeface="Microsoft Himalaya" panose="01010100010101010101" pitchFamily="2" charset="0"/>
              </a:rPr>
              <a:t>Tensor Decomposition</a:t>
            </a:r>
            <a:endParaRPr lang="zh-CN" altLang="en-US" sz="8000" i="1" dirty="0">
              <a:solidFill>
                <a:schemeClr val="bg1"/>
              </a:solidFill>
              <a:latin typeface="Lucida Calligraphy" panose="03010101010101010101" pitchFamily="66" charset="0"/>
              <a:ea typeface="华文隶书" panose="02010800040101010101" pitchFamily="2" charset="-122"/>
              <a:cs typeface="Microsoft Himalaya" panose="01010100010101010101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1DDB5E-71EF-5501-AC44-D677FD68AF4A}"/>
              </a:ext>
            </a:extLst>
          </p:cNvPr>
          <p:cNvSpPr txBox="1"/>
          <p:nvPr/>
        </p:nvSpPr>
        <p:spPr>
          <a:xfrm>
            <a:off x="4763744" y="4706272"/>
            <a:ext cx="26645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Rancho Tao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BIMSA Math &amp; AI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RanchoTao @ gmail.com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</a:rPr>
              <a:t>RanchoTao.github.io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75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2087-2097-024E-4460-FACEC7C3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C0D691-3B7F-6FBD-4BC1-609DD42E0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78" y="2291092"/>
            <a:ext cx="11118044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Overall, we aim to address a problem: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single-cell Hi-C data represents one of the most sparse and complex data types in contemporary bioinformatics,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characterized primarily by 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high noise levels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6983BD-64B9-B547-346C-383969FF4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78" y="2828187"/>
            <a:ext cx="110291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dirty="0">
                <a:solidFill>
                  <a:schemeClr val="bg1"/>
                </a:solidFill>
                <a:latin typeface="Cambria Math" panose="02040503050406030204" pitchFamily="18" charset="0"/>
              </a:rPr>
              <a:t>How to Understand Single-Cell Data?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3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A2AEB-E186-696A-F01C-0DEC8467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B9FB1D-6D6E-CDE8-406D-04EE4F485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582" y="2967335"/>
            <a:ext cx="75008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dirty="0">
                <a:solidFill>
                  <a:schemeClr val="bg1"/>
                </a:solidFill>
                <a:latin typeface="Cambria Math" panose="02040503050406030204" pitchFamily="18" charset="0"/>
              </a:rPr>
              <a:t>What is Single-Cell Data?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87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C26A-A012-5B16-F0FB-070BDEEC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F7430D-9257-D3FA-F1AB-A01F2896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326" y="2397948"/>
            <a:ext cx="908934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Single-cell data refers to 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biomolecular information 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(such as gene expression, chromatin accessibility, </a:t>
            </a:r>
            <a:endParaRPr kumimoji="0" lang="en-US" altLang="zh-CN" sz="3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protein content, etc.) </a:t>
            </a:r>
            <a:endParaRPr kumimoji="0" lang="en-US" altLang="zh-CN" sz="3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measured at the single-cell resolution.</a:t>
            </a:r>
          </a:p>
        </p:txBody>
      </p:sp>
    </p:spTree>
    <p:extLst>
      <p:ext uri="{BB962C8B-B14F-4D97-AF65-F5344CB8AC3E}">
        <p14:creationId xmlns:p14="http://schemas.microsoft.com/office/powerpoint/2010/main" val="108021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F2E3E-1BA6-B303-488A-A3313395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奶油蛋糕&#10;&#10;AI 生成的内容可能不正确。">
            <a:extLst>
              <a:ext uri="{FF2B5EF4-FFF2-40B4-BE49-F238E27FC236}">
                <a16:creationId xmlns:a16="http://schemas.microsoft.com/office/drawing/2014/main" id="{5C3FE1C4-230B-8C04-29A0-508B4C0C6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66" y="1249349"/>
            <a:ext cx="6797068" cy="435930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A086EA2-7843-2E50-BBFE-BD2DD7EBD52A}"/>
              </a:ext>
            </a:extLst>
          </p:cNvPr>
          <p:cNvSpPr txBox="1"/>
          <p:nvPr/>
        </p:nvSpPr>
        <p:spPr>
          <a:xfrm>
            <a:off x="2697466" y="664574"/>
            <a:ext cx="3090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Bulk Sequencing</a:t>
            </a:r>
            <a:endParaRPr lang="zh-CN" altLang="en-US" sz="32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211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37530-DB53-5A6A-19AD-4EFB3040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巧克力饼干在盘子上&#10;&#10;AI 生成的内容可能不正确。">
            <a:extLst>
              <a:ext uri="{FF2B5EF4-FFF2-40B4-BE49-F238E27FC236}">
                <a16:creationId xmlns:a16="http://schemas.microsoft.com/office/drawing/2014/main" id="{172064A5-8F1D-920C-ADE8-7729091D2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223" y="1169542"/>
            <a:ext cx="6673553" cy="451891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429BF37-5D7D-C4BF-0175-5F9982FF2D25}"/>
              </a:ext>
            </a:extLst>
          </p:cNvPr>
          <p:cNvSpPr txBox="1"/>
          <p:nvPr/>
        </p:nvSpPr>
        <p:spPr>
          <a:xfrm>
            <a:off x="2759223" y="584767"/>
            <a:ext cx="4088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Single-cell Sequencing</a:t>
            </a:r>
            <a:endParaRPr lang="zh-CN" altLang="en-US" sz="32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78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D675-EFD0-7EEF-6A63-417C491C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AI 生成的内容可能不正确。">
            <a:extLst>
              <a:ext uri="{FF2B5EF4-FFF2-40B4-BE49-F238E27FC236}">
                <a16:creationId xmlns:a16="http://schemas.microsoft.com/office/drawing/2014/main" id="{35FE7D8A-3386-7BAB-F278-9ABB72E0D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689" y="1359179"/>
            <a:ext cx="6678622" cy="413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5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E979A-7502-ECB9-3F36-63D081CB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03FACB-6C68-46DA-4C0E-8C9E37AD52B0}"/>
              </a:ext>
            </a:extLst>
          </p:cNvPr>
          <p:cNvSpPr txBox="1"/>
          <p:nvPr/>
        </p:nvSpPr>
        <p:spPr>
          <a:xfrm>
            <a:off x="2499791" y="2151727"/>
            <a:ext cx="719241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Why measure</a:t>
            </a:r>
          </a:p>
          <a:p>
            <a:r>
              <a:rPr lang="en-US" altLang="zh-CN" sz="8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single-cell data?</a:t>
            </a:r>
            <a:endParaRPr lang="zh-CN" altLang="en-US" sz="8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61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76AB0-5ADC-6739-062B-5313A6D0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F4AF655-CE6E-7BDE-7B02-4B4BCE5BE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061" y="1720840"/>
            <a:ext cx="1018387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Within a biological organism,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even within the same tissue </a:t>
            </a:r>
            <a:r>
              <a:rPr kumimoji="0" lang="en-US" altLang="zh-CN" sz="6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!!!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(such as the brain or a tumor),</a:t>
            </a:r>
            <a:endParaRPr kumimoji="0" lang="en-US" altLang="zh-CN" sz="6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there exists significant cellular heterogeneity.</a:t>
            </a:r>
          </a:p>
        </p:txBody>
      </p:sp>
    </p:spTree>
    <p:extLst>
      <p:ext uri="{BB962C8B-B14F-4D97-AF65-F5344CB8AC3E}">
        <p14:creationId xmlns:p14="http://schemas.microsoft.com/office/powerpoint/2010/main" val="1331032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63E1-B492-315A-7F7D-FFF4FCD4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3974487-AF75-7939-AAB3-DEEE5206D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932" y="1305341"/>
            <a:ext cx="1037213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The “Appearance” (Data Structure) of Single-Cell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From a computational perspective, single-cell data typically manifests as a massive matrix: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Rows: Usually represent cells (potentially ranging from thousands to millions).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Columns: Typically represent features (e.g., 20,000 genes, or millions of bin regions across the genome).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Values: Represent the intensity of that feature in the cell (e.g., expression levels or contact frequency).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It presents two significant algorithmic 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High-dimensional: Extremely numerous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Sparse: This is the most challenging aspect of single-cell data, as sampling depth is limited,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resulting in the vast majority of values in the matrix being zero (Dropout phenomenon).</a:t>
            </a:r>
          </a:p>
        </p:txBody>
      </p:sp>
    </p:spTree>
    <p:extLst>
      <p:ext uri="{BB962C8B-B14F-4D97-AF65-F5344CB8AC3E}">
        <p14:creationId xmlns:p14="http://schemas.microsoft.com/office/powerpoint/2010/main" val="512558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CF33-F12C-9CF9-3B03-86DDF03D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1FBB16-D091-6D0E-265A-C416D3106066}"/>
              </a:ext>
            </a:extLst>
          </p:cNvPr>
          <p:cNvSpPr txBox="1"/>
          <p:nvPr/>
        </p:nvSpPr>
        <p:spPr>
          <a:xfrm>
            <a:off x="1949885" y="2151727"/>
            <a:ext cx="82922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How to resolve this issue?</a:t>
            </a:r>
            <a:endParaRPr lang="zh-CN" altLang="en-US" sz="8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390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DC67F-E18A-062D-E7D0-0433F15EB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D523A-91C4-17DF-6CF4-DBF55FA62FFB}"/>
              </a:ext>
            </a:extLst>
          </p:cNvPr>
          <p:cNvSpPr txBox="1"/>
          <p:nvPr/>
        </p:nvSpPr>
        <p:spPr>
          <a:xfrm>
            <a:off x="1775791" y="1905506"/>
            <a:ext cx="86404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Microsoft Himalaya" panose="01010100010101010101" pitchFamily="2" charset="0"/>
              </a:rPr>
              <a:t>Tensor Decomposition</a:t>
            </a:r>
            <a:endParaRPr lang="zh-CN" altLang="en-US" sz="9600" dirty="0">
              <a:solidFill>
                <a:schemeClr val="bg1"/>
              </a:solidFill>
              <a:latin typeface="Cambria Math" panose="02040503050406030204" pitchFamily="18" charset="0"/>
              <a:ea typeface="华文隶书" panose="02010800040101010101" pitchFamily="2" charset="-122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481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17D1-8BDB-112F-0323-6B8789B5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A63A4FB-85BC-5A80-42D9-E9EB1DA7A1C4}"/>
              </a:ext>
            </a:extLst>
          </p:cNvPr>
          <p:cNvSpPr txBox="1"/>
          <p:nvPr/>
        </p:nvSpPr>
        <p:spPr>
          <a:xfrm>
            <a:off x="410790" y="1720840"/>
            <a:ext cx="1137042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Ultrafast and interpretable single-cell 3D genome analysis with Fast-Higashi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https://doi.org/10.1016/j.cels.2022.09.004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endParaRPr lang="en-US" altLang="zh-CN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comprehensive benchmark of single-cell Hi-C embedding tools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https://doi.org/10.1038/s41467-025-64186-4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endParaRPr lang="en-US" altLang="zh-CN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Avocado: a multi-scale deep tensor factorization method learns a latent representation of the human epigenome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https://doi.org/10.1186/s13059-020-01977-6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endParaRPr lang="en-US" altLang="zh-CN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Multiscale and integrative single-cell Hi-C analysis with Higashi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https://doi.org/10.1038/s41587-021-01034-y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3809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74D3-A8A1-C08A-542E-CBB7E0C0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44E680A-D199-FDC5-4E6B-93EBF425CF6C}"/>
              </a:ext>
            </a:extLst>
          </p:cNvPr>
          <p:cNvSpPr txBox="1"/>
          <p:nvPr/>
        </p:nvSpPr>
        <p:spPr>
          <a:xfrm>
            <a:off x="-1045" y="0"/>
            <a:ext cx="7568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Ultrafast and interpretable single-cell 3D genome analysis with Fast-Higashi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https://doi.org/10.1016/j.cels.2022.09.004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439471-AE14-10C1-9905-F1B982C31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31" y="1720840"/>
            <a:ext cx="1109053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A fast algorithm based on tensor decomposition (PARAFAC2) introduces the concept of “meta-interactions”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 directly linking cellular embeddings to 3D genomic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Advantages: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9–40 times faster than traditional methods (e.g., Higashi, 3DVI), capable of identifying rare cell types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(e.g., cortical neuron subtypes).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Addresses data sparsity through partial random walk (Partial RWR)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Key Applications: Reconstructs neuronal developmental trajectories in mouse developmental brain data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and identifies cell type-specific chromatin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248629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1FB0-0D2B-B305-E5C8-601347F7F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00C81A-EADC-952C-7426-D3286BA3099B}"/>
              </a:ext>
            </a:extLst>
          </p:cNvPr>
          <p:cNvSpPr txBox="1"/>
          <p:nvPr/>
        </p:nvSpPr>
        <p:spPr>
          <a:xfrm>
            <a:off x="0" y="0"/>
            <a:ext cx="6997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comprehensive benchmark of single-cell Hi-C embedding tools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https://doi.org/10.1038/s41467-025-64186-4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96952F-E4F6-8819-5749-127B36608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79" y="1443841"/>
            <a:ext cx="796904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Core Content: Systematically evaluated the performance of 13 embedding tools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(e.g., Va3DE, Higashi, scHiCluster) across 10 scHi-C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Key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Different tools suit distinct scenarios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(e.g., early embryonic development relies on long-range interactions,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while complex tissues require short-range interactions).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Deep learning tools (e.g., Va3DE, Higashi) demonstrate robustness on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low-coverage data but incur high computational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Random walk and IDF transformation may bias toward long-range interactions,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potentially affecting neuronal subtype differentiation.</a:t>
            </a:r>
          </a:p>
        </p:txBody>
      </p:sp>
    </p:spTree>
    <p:extLst>
      <p:ext uri="{BB962C8B-B14F-4D97-AF65-F5344CB8AC3E}">
        <p14:creationId xmlns:p14="http://schemas.microsoft.com/office/powerpoint/2010/main" val="3695883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FF3C-3600-011C-7961-F7C22FD9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F835EE4-4F0C-F50C-0159-0BF1C901EF24}"/>
              </a:ext>
            </a:extLst>
          </p:cNvPr>
          <p:cNvSpPr txBox="1"/>
          <p:nvPr/>
        </p:nvSpPr>
        <p:spPr>
          <a:xfrm>
            <a:off x="-1044" y="0"/>
            <a:ext cx="6097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Avocado: a multi-scale deep tensor factorization method learns a latent representation of the human epigenome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https://doi.org/10.1186/s13059-020-01977-6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F6B52A-7E8D-271E-CC03-80493BAAD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992" y="2274838"/>
            <a:ext cx="1021401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Core Method: Higashi models scHi-C data as a hypergraph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—connecting cell nodes and genomic bin nodes via hyperedges (representing chromatin interactions)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—and learns embeddings using a hypergraph neural network (Hyper-SAGNN).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Innovative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Dynamic embeddings capture intercellular associations, enabling multimodal data integration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(e.g., joint analysis of Hi-C and methylation).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Contact graph interpolation via hyperedge prediction enhances 3D structural resolution in single cells.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Key Advantages: Identifies cell type-specific TAD-like boundaries and compartment dynamics.</a:t>
            </a:r>
          </a:p>
        </p:txBody>
      </p:sp>
    </p:spTree>
    <p:extLst>
      <p:ext uri="{BB962C8B-B14F-4D97-AF65-F5344CB8AC3E}">
        <p14:creationId xmlns:p14="http://schemas.microsoft.com/office/powerpoint/2010/main" val="1120796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A0A2D-1568-41DE-596C-6EAC957A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B33AB37-F219-5A9B-EC03-09EC7B1CD4DA}"/>
              </a:ext>
            </a:extLst>
          </p:cNvPr>
          <p:cNvSpPr txBox="1"/>
          <p:nvPr/>
        </p:nvSpPr>
        <p:spPr>
          <a:xfrm>
            <a:off x="0" y="0"/>
            <a:ext cx="701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Multiscale and integrative single-cell Hi-C analysis with Higashi</a:t>
            </a:r>
          </a:p>
          <a:p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https://doi.org/10.1038/s41587-021-01034-y</a:t>
            </a:r>
            <a:r>
              <a:rPr lang="en-US" altLang="zh-CN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ADC6B4-F9A7-E358-3FD3-E80D9BB8C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120" y="2136338"/>
            <a:ext cx="918976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Core Method: Extended hypergraph representation learning supporting multi-scale analysis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(compartments, TAD boundaries) and multi-modal integration (e.g., scHi-C + methylation).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Key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Distinguishes 29 neuronal subtypes in human prefrontal cortex data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and identifies ODC cell-specific TAD boundaries enriched for synapse-related genes.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 Math" panose="02040503050406030204" pitchFamily="18" charset="0"/>
              </a:rPr>
              <a:t>Interpolated contact maps reveal cell cycle-associated chromatin structural changes.</a:t>
            </a:r>
          </a:p>
        </p:txBody>
      </p:sp>
    </p:spTree>
    <p:extLst>
      <p:ext uri="{BB962C8B-B14F-4D97-AF65-F5344CB8AC3E}">
        <p14:creationId xmlns:p14="http://schemas.microsoft.com/office/powerpoint/2010/main" val="607697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A4A0-EF4D-9AAC-C1AB-568E302F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62AA48-4DEB-DAD4-F054-B7CB4DE87B68}"/>
              </a:ext>
            </a:extLst>
          </p:cNvPr>
          <p:cNvSpPr txBox="1"/>
          <p:nvPr/>
        </p:nvSpPr>
        <p:spPr>
          <a:xfrm>
            <a:off x="2208234" y="2151727"/>
            <a:ext cx="77755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Thank </a:t>
            </a:r>
          </a:p>
          <a:p>
            <a:r>
              <a:rPr lang="en-US" altLang="zh-CN" sz="8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your listening</a:t>
            </a:r>
            <a:endParaRPr lang="zh-CN" altLang="en-US" sz="8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419397-217B-0786-79CF-CE0C358ACD97}"/>
              </a:ext>
            </a:extLst>
          </p:cNvPr>
          <p:cNvSpPr txBox="1"/>
          <p:nvPr/>
        </p:nvSpPr>
        <p:spPr>
          <a:xfrm>
            <a:off x="3048000" y="470627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Rancho Tao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BIMSA Math &amp; AI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RanchoTao @ gmail.com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</a:rPr>
              <a:t>RanchoTao.github.io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28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864</Words>
  <Application>Microsoft Office PowerPoint</Application>
  <PresentationFormat>宽屏</PresentationFormat>
  <Paragraphs>104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等线 Light</vt:lpstr>
      <vt:lpstr>Arial</vt:lpstr>
      <vt:lpstr>Cambria Math</vt:lpstr>
      <vt:lpstr>Lucida Calligraphy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圣叶 陶</dc:creator>
  <cp:lastModifiedBy>圣叶 陶</cp:lastModifiedBy>
  <cp:revision>11</cp:revision>
  <dcterms:created xsi:type="dcterms:W3CDTF">2025-12-10T12:36:39Z</dcterms:created>
  <dcterms:modified xsi:type="dcterms:W3CDTF">2025-12-22T01:01:52Z</dcterms:modified>
</cp:coreProperties>
</file>